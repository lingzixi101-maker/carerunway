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Databricks screenshot isn't ready, change the title to: 'Built end to end on Databricks, with its error on screen' and delete the screenshot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ude.ai/artifact/KWxnv7oRJRx4aS9JTt8oXy" TargetMode="Externa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3621"/>
                </a:solidFill>
                <a:latin typeface="Arial"/>
              </a:rPr>
              <a:t>SLIDE 1   PROBLEM &amp;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12530"/>
                </a:solidFill>
                <a:latin typeface="Arial"/>
              </a:rPr>
              <a:t>Seniors are growing faster than the clinics that serve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DAISI Challenge Singapore 2026 · Round 1 template · keep to 3 slides, export as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Team name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12530"/>
                </a:solidFill>
                <a:latin typeface="Arial"/>
              </a:rPr>
              <a:t>[Team name]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Problem statement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12530"/>
                </a:solidFill>
                <a:latin typeface="Arial"/>
              </a:rPr>
              <a:t>A3 HealthPulse: community healthcare demand forecasting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The problem in one sentence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12530"/>
                </a:solidFill>
                <a:latin typeface="Arial"/>
              </a:rPr>
              <a:t>Some towns are running out of clinic capacity faster than others, and </a:t>
            </a:r>
            <a:r>
              <a:rPr sz="1300" b="1">
                <a:solidFill>
                  <a:srgbClr val="112530"/>
                </a:solidFill>
                <a:latin typeface="Arial"/>
              </a:rPr>
              <a:t>nobody can see which ones first,</a:t>
            </a:r>
            <a:r>
              <a:rPr sz="1300" b="0">
                <a:solidFill>
                  <a:srgbClr val="112530"/>
                </a:solidFill>
                <a:latin typeface="Arial"/>
              </a:rPr>
              <a:t> or whether the new polyclinics will open in time.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Who is affected, and how badly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12530"/>
                </a:solidFill>
                <a:latin typeface="Arial"/>
              </a:rPr>
              <a:t>Singapore's 65+ population grew </a:t>
            </a:r>
            <a:r>
              <a:rPr sz="1300" b="1">
                <a:solidFill>
                  <a:srgbClr val="112530"/>
                </a:solidFill>
                <a:latin typeface="Arial"/>
              </a:rPr>
              <a:t>45% between 2015 and 2022</a:t>
            </a:r>
            <a:r>
              <a:rPr sz="1300" b="0">
                <a:solidFill>
                  <a:srgbClr val="112530"/>
                </a:solidFill>
                <a:latin typeface="Arial"/>
              </a:rPr>
              <a:t>, to 735,000. Polyclinics and GP clinics grew 28% over the same years.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Why it matters now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12530"/>
                </a:solidFill>
                <a:latin typeface="Arial"/>
              </a:rPr>
              <a:t>Healthier SG has signed up 1.4 million residents (May 2026), so more care lands on GPs. MOH is choosing polyclinic sites right now, and </a:t>
            </a:r>
            <a:r>
              <a:rPr sz="1300" b="1">
                <a:solidFill>
                  <a:srgbClr val="112530"/>
                </a:solidFill>
                <a:latin typeface="Arial"/>
              </a:rPr>
              <a:t>Bishan's has already slipped past 2030.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94576" y="2093976"/>
            <a:ext cx="4572000" cy="2880360"/>
          </a:xfrm>
          <a:prstGeom prst="rect">
            <a:avLst/>
          </a:prstGeom>
          <a:solidFill>
            <a:srgbClr val="11253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12280" y="2011680"/>
            <a:ext cx="457200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1253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86600" y="21945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E5E67"/>
                </a:solidFill>
                <a:latin typeface="Arial"/>
              </a:rPr>
              <a:t>Seniors per clinic in Singapore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4231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3621"/>
                </a:solidFill>
                <a:latin typeface="Arial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63347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E5E67"/>
                </a:solidFill>
                <a:latin typeface="Arial"/>
              </a:rPr>
              <a:t>in 2022, up from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12530"/>
                </a:solidFill>
                <a:latin typeface="Arial"/>
              </a:rPr>
              <a:t>259 in 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6118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530"/>
                </a:solidFill>
                <a:latin typeface="Arial"/>
              </a:rPr>
              <a:t>Seniors (65+)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648456"/>
            <a:ext cx="1874520" cy="201168"/>
          </a:xfrm>
          <a:prstGeom prst="rect">
            <a:avLst/>
          </a:prstGeom>
          <a:solidFill>
            <a:srgbClr val="FF36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451592" y="36118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3621"/>
                </a:solidFill>
                <a:latin typeface="Arial"/>
              </a:rPr>
              <a:t>+45%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0233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530"/>
                </a:solidFill>
                <a:latin typeface="Arial"/>
              </a:rPr>
              <a:t>Clinics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4059936"/>
            <a:ext cx="1166368" cy="201168"/>
          </a:xfrm>
          <a:prstGeom prst="rect">
            <a:avLst/>
          </a:prstGeom>
          <a:solidFill>
            <a:srgbClr val="11253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743440" y="4023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2530"/>
                </a:solidFill>
                <a:latin typeface="Arial"/>
              </a:rPr>
              <a:t>+28%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4805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89E"/>
                </a:solidFill>
                <a:latin typeface="Arial"/>
              </a:rPr>
              <a:t>Change from 2015 to 2022, from the DAISI data pack (population by age; MOH primary care facilities).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120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E5E67"/>
                </a:solidFill>
                <a:latin typeface="Arial"/>
              </a:rPr>
              <a:t>And the pipeline is already slipping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5468112"/>
            <a:ext cx="2057400" cy="5669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22008" y="5513831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E5E67"/>
                </a:solidFill>
                <a:latin typeface="Arial"/>
              </a:rPr>
              <a:t>2025 plan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12530"/>
                </a:solidFill>
                <a:latin typeface="Arial"/>
              </a:rPr>
              <a:t>Bishan polyclinic by 2030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5778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5468112"/>
            <a:ext cx="2057400" cy="566928"/>
          </a:xfrm>
          <a:prstGeom prst="rect">
            <a:avLst/>
          </a:prstGeom>
          <a:solidFill>
            <a:srgbClr val="FDE3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436608" y="5513831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E5E67"/>
                </a:solidFill>
                <a:latin typeface="Arial"/>
              </a:rPr>
              <a:t>2026 update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B9200D"/>
                </a:solidFill>
                <a:latin typeface="Arial"/>
              </a:rPr>
              <a:t>Pushed beyond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3621"/>
                </a:solidFill>
                <a:latin typeface="Arial"/>
              </a:rPr>
              <a:t>SLIDE 2   SOLUTION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12530"/>
                </a:solidFill>
                <a:latin typeface="Arial"/>
              </a:rPr>
              <a:t>CareRunway tells planners where the next clinic should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DAISI Challenge Singapore 2026 · Round 1 template · keep to 3 slides, export as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11480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Your solution in one sentence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12530"/>
                </a:solidFill>
                <a:latin typeface="Arial"/>
              </a:rPr>
              <a:t>A planning tool that uses </a:t>
            </a:r>
            <a:r>
              <a:rPr sz="1100" b="1">
                <a:solidFill>
                  <a:srgbClr val="112530"/>
                </a:solidFill>
                <a:latin typeface="Arial"/>
              </a:rPr>
              <a:t>machine learning</a:t>
            </a:r>
            <a:r>
              <a:rPr sz="1100" b="0">
                <a:solidFill>
                  <a:srgbClr val="112530"/>
                </a:solidFill>
                <a:latin typeface="Arial"/>
              </a:rPr>
              <a:t> to forecast seniors per clinic in every area to 2031, checks MOH's announced polyclinics, and ranks where one new clinic helps most.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Who uses it, and what decision it changes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12530"/>
                </a:solidFill>
                <a:latin typeface="Arial"/>
              </a:rPr>
              <a:t>Planners at the three regional health clusters, </a:t>
            </a:r>
            <a:r>
              <a:rPr sz="1100" b="1">
                <a:solidFill>
                  <a:srgbClr val="112530"/>
                </a:solidFill>
                <a:latin typeface="Arial"/>
              </a:rPr>
              <a:t>deciding where the next Healthier SG clinic goes.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Datasets we will use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12530"/>
                </a:solidFill>
                <a:latin typeface="Arial"/>
              </a:rPr>
              <a:t>1. Residents by area, age and sex, 2000 to 2025 (SingStat)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12530"/>
                </a:solidFill>
                <a:latin typeface="Arial"/>
              </a:rPr>
              <a:t>2. Clinic and polyclinic locations (data.gov.sg, MOH)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12530"/>
                </a:solidFill>
                <a:latin typeface="Arial"/>
              </a:rPr>
              <a:t>3. Hospital admissions 1987 to 2026 (DAISI pack); admission rates by age (MOH)</a:t>
            </a:r>
          </a:p>
          <a:p>
            <a:pPr algn="l">
              <a:spcAft>
                <a:spcPts val="700"/>
              </a:spcAft>
            </a:pPr>
            <a:r>
              <a:rPr sz="1000" b="0">
                <a:solidFill>
                  <a:srgbClr val="4E5E67"/>
                </a:solidFill>
                <a:latin typeface="Arial"/>
              </a:rPr>
              <a:t>While cleaning the data, </a:t>
            </a:r>
            <a:r>
              <a:rPr sz="1000" b="1">
                <a:solidFill>
                  <a:srgbClr val="FF3621"/>
                </a:solidFill>
                <a:latin typeface="Arial"/>
              </a:rPr>
              <a:t>we found 8 towns mislabelled</a:t>
            </a:r>
            <a:r>
              <a:rPr sz="1000" b="0">
                <a:solidFill>
                  <a:srgbClr val="4E5E67"/>
                </a:solidFill>
                <a:latin typeface="Arial"/>
              </a:rPr>
              <a:t> in a government dataset. It overturned one of our own early findings.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Different from a generic dashboard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112530"/>
                </a:solidFill>
                <a:latin typeface="Arial"/>
              </a:rPr>
              <a:t>Most dashboards show where seniors live today. Ours says </a:t>
            </a:r>
            <a:r>
              <a:rPr sz="1100" b="1">
                <a:solidFill>
                  <a:srgbClr val="112530"/>
                </a:solidFill>
                <a:latin typeface="Arial"/>
              </a:rPr>
              <a:t>where the next clinic should go,</a:t>
            </a:r>
            <a:r>
              <a:rPr sz="1100" b="0">
                <a:solidFill>
                  <a:srgbClr val="112530"/>
                </a:solidFill>
                <a:latin typeface="Arial"/>
              </a:rPr>
              <a:t> checks MOH's own plans, and tests its forecast against the standard demographic method.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112530"/>
                </a:solidFill>
                <a:latin typeface="Arial"/>
              </a:rPr>
              <a:t>Try the prototype: </a:t>
            </a:r>
            <a:r>
              <a:rPr sz="1050" b="0">
                <a:solidFill>
                  <a:srgbClr val="FF3621"/>
                </a:solidFill>
                <a:latin typeface="Arial"/>
                <a:hlinkClick r:id="rId2"/>
              </a:rPr>
              <a:t>claude.ai/artifact/KWxnv7oRJRx4aS9JTt8oXy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8A989E"/>
                </a:solidFill>
                <a:latin typeface="Arial"/>
              </a:rPr>
              <a:t>Concept only: illustrative data, and many features are not built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8928" y="1938528"/>
            <a:ext cx="6193336" cy="4215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9" name="Picture 8" descr="mockup_v7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965960"/>
            <a:ext cx="613847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3621"/>
                </a:solidFill>
                <a:latin typeface="Arial"/>
              </a:rPr>
              <a:t>SLIDE 3   DATABRICKS ARCHITECTURE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12530"/>
                </a:solidFill>
                <a:latin typeface="Arial"/>
              </a:rPr>
              <a:t>Our data is already in Databricks. Here is how it becomes a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DAISI Challenge Singapore 2026 · Round 1 template · keep to 3 slides, export as PDF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1938528" cy="10241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2148840"/>
            <a:ext cx="168249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12530"/>
                </a:solidFill>
                <a:latin typeface="Arial"/>
              </a:rPr>
              <a:t>Sources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E5E67"/>
                </a:solidFill>
                <a:latin typeface="Arial"/>
              </a:rPr>
              <a:t>SingStat, data.gov.sg, MOH, DAISI pack, URA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68296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A989E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8376" y="2057400"/>
            <a:ext cx="1938528" cy="10241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36392" y="2148840"/>
            <a:ext cx="168249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12530"/>
                </a:solidFill>
                <a:latin typeface="Arial"/>
              </a:rPr>
              <a:t>Ingestion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E5E67"/>
                </a:solidFill>
                <a:latin typeface="Arial"/>
              </a:rPr>
              <a:t>Lakeflow Jobs land raw files in a Unity Catalog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8616" y="2368296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A989E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3792" y="2057400"/>
            <a:ext cx="1938528" cy="10241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21808" y="2148840"/>
            <a:ext cx="168249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12530"/>
                </a:solidFill>
                <a:latin typeface="Arial"/>
              </a:rPr>
              <a:t>Transform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E5E67"/>
                </a:solidFill>
                <a:latin typeface="Arial"/>
              </a:rPr>
              <a:t>Delta bronze, silver, gold: label fixes, geocoding, catchments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368296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A989E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43216" y="2121408"/>
            <a:ext cx="1938528" cy="1024128"/>
          </a:xfrm>
          <a:prstGeom prst="rect">
            <a:avLst/>
          </a:prstGeom>
          <a:solidFill>
            <a:srgbClr val="11253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379208" y="2057400"/>
            <a:ext cx="1938528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11253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07224" y="2148840"/>
            <a:ext cx="168249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3621"/>
                </a:solidFill>
                <a:latin typeface="Arial"/>
              </a:rPr>
              <a:t>Models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E5E67"/>
                </a:solidFill>
                <a:latin typeface="Arial"/>
              </a:rPr>
              <a:t>MLflow: ML area forecast, tested against the standard method; admissions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368296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A989E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64624" y="2057400"/>
            <a:ext cx="1938528" cy="10241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92640" y="2148840"/>
            <a:ext cx="168249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12530"/>
                </a:solidFill>
                <a:latin typeface="Arial"/>
              </a:rPr>
              <a:t>Outputs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E5E67"/>
                </a:solidFill>
                <a:latin typeface="Arial"/>
              </a:rPr>
              <a:t>Site optimiser, AI/BI map dashboard, Genie space, App for briefs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004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12530"/>
                </a:solidFill>
                <a:latin typeface="Arial"/>
              </a:rPr>
              <a:t>We use the ML forecast only where it wins: </a:t>
            </a:r>
            <a:r>
              <a:rPr sz="1100" b="1">
                <a:solidFill>
                  <a:srgbClr val="112530"/>
                </a:solidFill>
                <a:latin typeface="Arial"/>
              </a:rPr>
              <a:t>train to 2015, predict 2020; train to 2020, predict 2025,</a:t>
            </a:r>
            <a:r>
              <a:rPr sz="1100" b="0">
                <a:solidFill>
                  <a:srgbClr val="112530"/>
                </a:solidFill>
                <a:latin typeface="Arial"/>
              </a:rPr>
              <a:t> and compare its error with the standard method.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657600"/>
            <a:ext cx="5029200" cy="2194560"/>
          </a:xfrm>
          <a:prstGeom prst="rect">
            <a:avLst/>
          </a:prstGeom>
          <a:solidFill>
            <a:srgbClr val="F3F5F6"/>
          </a:solidFill>
          <a:ln w="12700">
            <a:solidFill>
              <a:srgbClr val="8A989E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97280" y="44348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E5E67"/>
                </a:solidFill>
                <a:latin typeface="Arial"/>
              </a:rPr>
              <a:t>Paste a Databricks screenshot here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Seniors per clinic, 2009 to 2022, queried from workspace.carerunway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657600"/>
            <a:ext cx="52578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What we'll demo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12530"/>
                </a:solidFill>
                <a:latin typeface="Arial"/>
              </a:rPr>
              <a:t>A planner flips planned clinics on and off, clicks an area, asks Genie a question, and leaves with </a:t>
            </a:r>
            <a:r>
              <a:rPr sz="1150" b="1">
                <a:solidFill>
                  <a:srgbClr val="112530"/>
                </a:solidFill>
                <a:latin typeface="Arial"/>
              </a:rPr>
              <a:t>the top three sites and a one-page brief.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How we'll measure impact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112530"/>
                </a:solidFill>
                <a:latin typeface="Arial"/>
              </a:rPr>
              <a:t>Seniors living in under-served areas by 2031,</a:t>
            </a:r>
            <a:r>
              <a:rPr sz="1150" b="0">
                <a:solidFill>
                  <a:srgbClr val="112530"/>
                </a:solidFill>
                <a:latin typeface="Arial"/>
              </a:rPr>
              <a:t> with and without our recommended sites, and forecast error versus the standard method.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989E"/>
                </a:solidFill>
                <a:latin typeface="Arial"/>
              </a:rPr>
              <a:t>What we can finish in two weeks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12530"/>
                </a:solidFill>
                <a:latin typeface="Arial"/>
              </a:rPr>
              <a:t>Week 1: pipeline, standard forecast, </a:t>
            </a:r>
            <a:r>
              <a:rPr sz="1150" b="1">
                <a:solidFill>
                  <a:srgbClr val="112530"/>
                </a:solidFill>
                <a:latin typeface="Arial"/>
              </a:rPr>
              <a:t>ML forecast and backtest.</a:t>
            </a:r>
            <a:r>
              <a:rPr sz="1150" b="0">
                <a:solidFill>
                  <a:srgbClr val="112530"/>
                </a:solidFill>
                <a:latin typeface="Arial"/>
              </a:rPr>
              <a:t> Week 2: site optimiser, planned-clinics check, dashboard, Genie. Stretch: nursing homes.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12530"/>
                </a:solidFill>
                <a:latin typeface="Arial"/>
              </a:rPr>
              <a:t>Team: </a:t>
            </a:r>
            <a:r>
              <a:rPr sz="1000" b="0">
                <a:solidFill>
                  <a:srgbClr val="4E5E67"/>
                </a:solidFill>
                <a:latin typeface="Arial"/>
              </a:rPr>
              <a:t>[Name] (data and models), [Name] (supply and mapping), [Name] (product and pitch)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